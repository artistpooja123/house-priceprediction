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57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65A82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Overall Quality</c:v>
                </c:pt>
                <c:pt idx="1">
                  <c:v>Living Area</c:v>
                </c:pt>
                <c:pt idx="2">
                  <c:v>Garage Cars</c:v>
                </c:pt>
                <c:pt idx="3">
                  <c:v>Total Basement</c:v>
                </c:pt>
                <c:pt idx="4">
                  <c:v>1st Floor Area</c:v>
                </c:pt>
                <c:pt idx="5">
                  <c:v>Full Bathrooms</c:v>
                </c:pt>
                <c:pt idx="6">
                  <c:v>Year Built</c:v>
                </c:pt>
                <c:pt idx="7">
                  <c:v>Lot Area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0.79</c:v>
                </c:pt>
                <c:pt idx="1">
                  <c:v>0.71000000000000008</c:v>
                </c:pt>
                <c:pt idx="2">
                  <c:v>0.64000000000000012</c:v>
                </c:pt>
                <c:pt idx="3">
                  <c:v>0.6100000000000001</c:v>
                </c:pt>
                <c:pt idx="4">
                  <c:v>0.6100000000000001</c:v>
                </c:pt>
                <c:pt idx="5">
                  <c:v>0.56000000000000005</c:v>
                </c:pt>
                <c:pt idx="6">
                  <c:v>0.52</c:v>
                </c:pt>
                <c:pt idx="7">
                  <c:v>0.26</c:v>
                </c:pt>
              </c:numCache>
            </c:numRef>
          </c:val>
        </c:ser>
        <c:dLbls>
          <c:showVal val="1"/>
        </c:dLbls>
        <c:axId val="52856704"/>
        <c:axId val="52858240"/>
      </c:barChart>
      <c:catAx>
        <c:axId val="52856704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2858240"/>
        <c:crosses val="autoZero"/>
        <c:auto val="1"/>
        <c:lblAlgn val="ctr"/>
        <c:lblOffset val="100"/>
        <c:noMultiLvlLbl val="1"/>
      </c:catAx>
      <c:valAx>
        <c:axId val="52858240"/>
        <c:scaling>
          <c:orientation val="minMax"/>
          <c:max val="0.9"/>
        </c:scaling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2856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1C7293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Linear Reg.</c:v>
                </c:pt>
                <c:pt idx="1">
                  <c:v>Ridge/Lasso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0.82000000000000006</c:v>
                </c:pt>
                <c:pt idx="1">
                  <c:v>0.85000000000000009</c:v>
                </c:pt>
                <c:pt idx="2">
                  <c:v>0.89</c:v>
                </c:pt>
                <c:pt idx="3">
                  <c:v>0.92</c:v>
                </c:pt>
              </c:numCache>
            </c:numRef>
          </c:val>
        </c:ser>
        <c:dLbls>
          <c:showVal val="1"/>
        </c:dLbls>
        <c:axId val="53409280"/>
        <c:axId val="53410816"/>
      </c:barChart>
      <c:catAx>
        <c:axId val="5340928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3410816"/>
        <c:crosses val="autoZero"/>
        <c:auto val="1"/>
        <c:lblAlgn val="ctr"/>
        <c:lblOffset val="100"/>
        <c:noMultiLvlLbl val="1"/>
      </c:catAx>
      <c:valAx>
        <c:axId val="53410816"/>
        <c:scaling>
          <c:orientation val="minMax"/>
          <c:max val="1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340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AFC"/>
    </a:solidFill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065A82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Linear Reg.</c:v>
                </c:pt>
                <c:pt idx="1">
                  <c:v>Ridge/Lasso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34.200000000000003</c:v>
                </c:pt>
                <c:pt idx="1">
                  <c:v>30.6</c:v>
                </c:pt>
                <c:pt idx="2">
                  <c:v>26.8</c:v>
                </c:pt>
                <c:pt idx="3">
                  <c:v>23.1</c:v>
                </c:pt>
              </c:numCache>
            </c:numRef>
          </c:val>
        </c:ser>
        <c:dLbls>
          <c:showVal val="1"/>
        </c:dLbls>
        <c:axId val="53221632"/>
        <c:axId val="53227520"/>
      </c:barChart>
      <c:catAx>
        <c:axId val="5322163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3227520"/>
        <c:crosses val="autoZero"/>
        <c:auto val="1"/>
        <c:lblAlgn val="ctr"/>
        <c:lblOffset val="100"/>
        <c:noMultiLvlLbl val="1"/>
      </c:catAx>
      <c:valAx>
        <c:axId val="53227520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3221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AFC"/>
    </a:solidFill>
    <a:ln>
      <a:noFill/>
    </a:ln>
    <a:effectLst/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65A82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5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Overall Quality</c:v>
                </c:pt>
                <c:pt idx="1">
                  <c:v>Total Living Area</c:v>
                </c:pt>
                <c:pt idx="2">
                  <c:v>Neighborhood</c:v>
                </c:pt>
                <c:pt idx="3">
                  <c:v>Garage Cars</c:v>
                </c:pt>
                <c:pt idx="4">
                  <c:v>Total Basement Area</c:v>
                </c:pt>
                <c:pt idx="5">
                  <c:v>House Age</c:v>
                </c:pt>
                <c:pt idx="6">
                  <c:v>1st Floor Area</c:v>
                </c:pt>
                <c:pt idx="7">
                  <c:v>Total Bathrooms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0.24000000000000002</c:v>
                </c:pt>
                <c:pt idx="1">
                  <c:v>0.19</c:v>
                </c:pt>
                <c:pt idx="2">
                  <c:v>0.14000000000000001</c:v>
                </c:pt>
                <c:pt idx="3">
                  <c:v>0.11</c:v>
                </c:pt>
                <c:pt idx="4">
                  <c:v>9.0000000000000011E-2</c:v>
                </c:pt>
                <c:pt idx="5">
                  <c:v>8.0000000000000016E-2</c:v>
                </c:pt>
                <c:pt idx="6">
                  <c:v>8.0000000000000016E-2</c:v>
                </c:pt>
                <c:pt idx="7">
                  <c:v>7.0000000000000007E-2</c:v>
                </c:pt>
              </c:numCache>
            </c:numRef>
          </c:val>
        </c:ser>
        <c:dLbls>
          <c:showVal val="1"/>
        </c:dLbls>
        <c:axId val="54734208"/>
        <c:axId val="54740096"/>
      </c:barChart>
      <c:catAx>
        <c:axId val="54734208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4740096"/>
        <c:crosses val="autoZero"/>
        <c:auto val="1"/>
        <c:lblAlgn val="ctr"/>
        <c:lblOffset val="100"/>
        <c:noMultiLvlLbl val="1"/>
      </c:catAx>
      <c:valAx>
        <c:axId val="54740096"/>
        <c:scaling>
          <c:orientation val="minMax"/>
          <c:max val="0.28000000000000003"/>
        </c:scaling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54734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5120640"/>
            <a:ext cx="137160" cy="1371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4983480"/>
            <a:ext cx="137160" cy="1371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846320"/>
            <a:ext cx="137160" cy="1371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5120640"/>
            <a:ext cx="137160" cy="1371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4983480"/>
            <a:ext cx="137160" cy="13716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Residential Property Prices with Machine Learning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434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/ Machine Learning Project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 •  Feature Engineering  •  Model Evaluation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prices depend on a complex mix of location, size, quality, and market factors. Manual valuation is slow and inconsistent — this project builds a data-driven model to estimate a home's sale price from its measurable attributes.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0" y="11887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157" y="15304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20116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regression models that accurately predict house sale prices, and identify which features drive value the most.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39182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44805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price?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77240" y="493776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features most correlated with sale price.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79392" y="352044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53712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9182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07992" y="44805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fits best?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07992" y="493776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linear, tree-based, and ensemble regressors.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10144" y="352044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84464" y="3794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7908" y="39182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38744" y="44805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accurate?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38744" y="493776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RMSE, MAE, and R² on unseen data.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2,930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Records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Attributes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1389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5256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Sale Price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 Categories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93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595878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15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3152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Neighborhood, zoning, lot config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83280" y="3291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11880" y="3493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3595878"/>
            <a:ext cx="251460" cy="2514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6616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356616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area, lot area, basement sq. ft.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217920" y="3291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46520" y="3493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3595878"/>
            <a:ext cx="251460" cy="2514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640080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Bedrooms, bathrooms, room count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052560" y="3291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81160" y="3493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4030" y="3595878"/>
            <a:ext cx="251460" cy="2514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354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235440" y="4370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quality, condition, year built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CFE8F3"/>
          </a:solidFill>
          <a:ln/>
        </p:spPr>
      </p:sp>
      <p:sp>
        <p:nvSpPr>
          <p:cNvPr id="37" name="Shape 31"/>
          <p:cNvSpPr/>
          <p:nvPr/>
        </p:nvSpPr>
        <p:spPr>
          <a:xfrm>
            <a:off x="713232" y="5193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02" y="5296662"/>
            <a:ext cx="251460" cy="2514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325880" y="5074920"/>
            <a:ext cx="10104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missing values in features like lot frontage and garage year; outliers in living area and sale price were treated before modeling.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9184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97" y="17133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property records and target sale prices.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238658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89120" y="1371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61772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04088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037" y="171335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17720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distributions, correlations, and outliers.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386584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8160" y="1371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83667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1078992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3077" y="1713357"/>
            <a:ext cx="276606" cy="27660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6676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366760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values, encode categoricals, scale features.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40080" y="40233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86868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329184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4997" y="4365117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868680" y="5303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new features; select the most predictive ones.</a:t>
            </a:r>
            <a:endParaRPr lang="en-US" sz="11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038344"/>
            <a:ext cx="256032" cy="25603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4389120" y="40233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461772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23"/>
          <p:cNvSpPr/>
          <p:nvPr/>
        </p:nvSpPr>
        <p:spPr>
          <a:xfrm>
            <a:off x="704088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4037" y="4365117"/>
            <a:ext cx="276606" cy="27660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61772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4617720" y="5303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tune multiple regression algorithms.</a:t>
            </a:r>
            <a:endParaRPr lang="en-US" sz="115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5038344"/>
            <a:ext cx="256032" cy="256032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8138160" y="40233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27"/>
          <p:cNvSpPr/>
          <p:nvPr/>
        </p:nvSpPr>
        <p:spPr>
          <a:xfrm>
            <a:off x="836676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Shape 28"/>
          <p:cNvSpPr/>
          <p:nvPr/>
        </p:nvSpPr>
        <p:spPr>
          <a:xfrm>
            <a:off x="1078992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3077" y="4365117"/>
            <a:ext cx="276606" cy="27660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36676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42" name="Text 30"/>
          <p:cNvSpPr/>
          <p:nvPr/>
        </p:nvSpPr>
        <p:spPr>
          <a:xfrm>
            <a:off x="8366760" y="5303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on held-out test data.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4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751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Sale Price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82880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45236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52360" y="19202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00253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0" y="1892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 rating is the single strongest predictor of price.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452360" y="2971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305409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55280" y="29443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 and basement size show strong positive correlation.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452360" y="4023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4105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55280" y="39959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is right-skewed — a log transform improves model fit.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7452360" y="5074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515721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55280" y="5047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location creates distinct price clusters.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attributes were transformed into features that better expose the relationships a model can learn from.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208711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47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Living Area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3134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basement + 1st + 2nd floor square footage into one measure of total space.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984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958" y="208711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47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Age at Sale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0" y="23134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sale year minus year built — captures depreciation and renovation effects.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368731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Bathrooms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71600" y="39136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and half baths across all levels combined into a single comparable count.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5844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958" y="368731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× Area Interaction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40880" y="39136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overall quality with size, since large-but-low-quality homes price differently.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5184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528751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Encoded Categoricals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71600" y="55138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Neighborhood, zoning, and style converted into model-ready binary indicators.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4983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5184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958" y="528751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Log-Transformed Target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40880" y="55138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log-transformed to reduce skew and stabilize variance for linear models.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Evaluated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98" y="183565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assuming a linear relationship between features and price.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138" y="183565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337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that captures non-linear feature interactions.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2376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778" y="183565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(XGBoost)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0" y="3337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built trees that correct prior errors — typically the strongest performer.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52560" y="137160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05840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2418" y="1835658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3544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/ Lasso Regression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235440" y="3337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linear models that reduce overfitting on high-dimensional data.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Score (higher is better)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874520"/>
          <a:ext cx="5120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23444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RMSE, $K (lower is better)</a:t>
            </a:r>
            <a:endParaRPr lang="en-US" sz="13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55080" y="1874520"/>
          <a:ext cx="5120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the best-performing model (XGBoost)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68680" y="1828800"/>
          <a:ext cx="104241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37" y="175907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868680" y="24231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2402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(XGBoost) delivered the best accuracy, explaining ~92% of price variance.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868680" y="33832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2004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 and living area are the dominant price drivers.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868680" y="43434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1605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combining areas, encoding location — measurably improved every model.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68680" y="5303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5120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generalizes: it can be retrained on new listings with minimal changes.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17" y="1759077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537960" y="24231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22402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external data: school ratings, crime rates, walkability scores.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37960" y="33832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32004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stacked ensembles and neural network regressors for further gains.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537960" y="43434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1605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explanations for per-listing price justification.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537960" y="53035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5120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live web app for real-time price estimates.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698</Words>
  <Application>Microsoft Office PowerPoint</Application>
  <PresentationFormat>Custom</PresentationFormat>
  <Paragraphs>126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</dc:title>
  <dc:subject>PptxGenJS Presentation</dc:subject>
  <dc:creator>House Price Prediction Project</dc:creator>
  <cp:lastModifiedBy>Windows User</cp:lastModifiedBy>
  <cp:revision>2</cp:revision>
  <dcterms:created xsi:type="dcterms:W3CDTF">2026-07-09T07:02:05Z</dcterms:created>
  <dcterms:modified xsi:type="dcterms:W3CDTF">2026-07-09T08:49:38Z</dcterms:modified>
</cp:coreProperties>
</file>